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904" autoAdjust="0"/>
  </p:normalViewPr>
  <p:slideViewPr>
    <p:cSldViewPr snapToGrid="0">
      <p:cViewPr varScale="1">
        <p:scale>
          <a:sx n="77" d="100"/>
          <a:sy n="77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gingqi, Sinazo (AE LMP - ZA)" userId="ec1f61bf-89e7-413d-b8db-169e85fc425b" providerId="ADAL" clId="{01F31CBE-4339-4F82-8A63-13B75BC5CA50}"/>
    <pc:docChg chg="undo custSel addSld delSld modSld sldOrd">
      <pc:chgData name="Mgingqi, Sinazo (AE LMP - ZA)" userId="ec1f61bf-89e7-413d-b8db-169e85fc425b" providerId="ADAL" clId="{01F31CBE-4339-4F82-8A63-13B75BC5CA50}" dt="2026-10-24T12:52:29.211" v="1630" actId="20577"/>
      <pc:docMkLst>
        <pc:docMk/>
      </pc:docMkLst>
      <pc:sldChg chg="modSp mod">
        <pc:chgData name="Mgingqi, Sinazo (AE LMP - ZA)" userId="ec1f61bf-89e7-413d-b8db-169e85fc425b" providerId="ADAL" clId="{01F31CBE-4339-4F82-8A63-13B75BC5CA50}" dt="2026-10-24T12:52:29.211" v="1630" actId="20577"/>
        <pc:sldMkLst>
          <pc:docMk/>
          <pc:sldMk cId="3860783410" sldId="256"/>
        </pc:sldMkLst>
        <pc:spChg chg="mod">
          <ac:chgData name="Mgingqi, Sinazo (AE LMP - ZA)" userId="ec1f61bf-89e7-413d-b8db-169e85fc425b" providerId="ADAL" clId="{01F31CBE-4339-4F82-8A63-13B75BC5CA50}" dt="2026-10-24T12:52:29.211" v="1630" actId="20577"/>
          <ac:spMkLst>
            <pc:docMk/>
            <pc:sldMk cId="3860783410" sldId="256"/>
            <ac:spMk id="2" creationId="{FD3545DD-D734-8C26-2EEF-D64DD69181EC}"/>
          </ac:spMkLst>
        </pc:spChg>
        <pc:picChg chg="mod">
          <ac:chgData name="Mgingqi, Sinazo (AE LMP - ZA)" userId="ec1f61bf-89e7-413d-b8db-169e85fc425b" providerId="ADAL" clId="{01F31CBE-4339-4F82-8A63-13B75BC5CA50}" dt="2026-10-24T10:44:02.474" v="1625" actId="14100"/>
          <ac:picMkLst>
            <pc:docMk/>
            <pc:sldMk cId="3860783410" sldId="256"/>
            <ac:picMk id="5" creationId="{1B3096CD-5095-6BC2-826D-08449FE7B1B7}"/>
          </ac:picMkLst>
        </pc:picChg>
      </pc:sldChg>
      <pc:sldChg chg="modSp mod">
        <pc:chgData name="Mgingqi, Sinazo (AE LMP - ZA)" userId="ec1f61bf-89e7-413d-b8db-169e85fc425b" providerId="ADAL" clId="{01F31CBE-4339-4F82-8A63-13B75BC5CA50}" dt="2026-10-22T01:35:30.791" v="641" actId="113"/>
        <pc:sldMkLst>
          <pc:docMk/>
          <pc:sldMk cId="1798158682" sldId="258"/>
        </pc:sldMkLst>
        <pc:spChg chg="mod">
          <ac:chgData name="Mgingqi, Sinazo (AE LMP - ZA)" userId="ec1f61bf-89e7-413d-b8db-169e85fc425b" providerId="ADAL" clId="{01F31CBE-4339-4F82-8A63-13B75BC5CA50}" dt="2026-10-22T01:35:30.791" v="641" actId="113"/>
          <ac:spMkLst>
            <pc:docMk/>
            <pc:sldMk cId="1798158682" sldId="258"/>
            <ac:spMk id="8" creationId="{8DFCF76B-04E2-0F4F-F6A3-E0EB8743734E}"/>
          </ac:spMkLst>
        </pc:spChg>
      </pc:sldChg>
      <pc:sldChg chg="modNotesTx">
        <pc:chgData name="Mgingqi, Sinazo (AE LMP - ZA)" userId="ec1f61bf-89e7-413d-b8db-169e85fc425b" providerId="ADAL" clId="{01F31CBE-4339-4F82-8A63-13B75BC5CA50}" dt="2026-10-22T01:37:30.567" v="643" actId="20577"/>
        <pc:sldMkLst>
          <pc:docMk/>
          <pc:sldMk cId="2153512174" sldId="260"/>
        </pc:sldMkLst>
      </pc:sldChg>
      <pc:sldChg chg="addSp delSp modSp mod">
        <pc:chgData name="Mgingqi, Sinazo (AE LMP - ZA)" userId="ec1f61bf-89e7-413d-b8db-169e85fc425b" providerId="ADAL" clId="{01F31CBE-4339-4F82-8A63-13B75BC5CA50}" dt="2026-10-22T02:08:20.153" v="1509" actId="27636"/>
        <pc:sldMkLst>
          <pc:docMk/>
          <pc:sldMk cId="838507380" sldId="264"/>
        </pc:sldMkLst>
        <pc:spChg chg="mod">
          <ac:chgData name="Mgingqi, Sinazo (AE LMP - ZA)" userId="ec1f61bf-89e7-413d-b8db-169e85fc425b" providerId="ADAL" clId="{01F31CBE-4339-4F82-8A63-13B75BC5CA50}" dt="2026-10-22T02:08:20.153" v="1509" actId="27636"/>
          <ac:spMkLst>
            <pc:docMk/>
            <pc:sldMk cId="838507380" sldId="264"/>
            <ac:spMk id="2" creationId="{688D54B6-4154-32E3-C8F0-9E5A0E324555}"/>
          </ac:spMkLst>
        </pc:spChg>
        <pc:spChg chg="add mod">
          <ac:chgData name="Mgingqi, Sinazo (AE LMP - ZA)" userId="ec1f61bf-89e7-413d-b8db-169e85fc425b" providerId="ADAL" clId="{01F31CBE-4339-4F82-8A63-13B75BC5CA50}" dt="2026-10-22T02:07:17.869" v="1497" actId="14100"/>
          <ac:spMkLst>
            <pc:docMk/>
            <pc:sldMk cId="838507380" sldId="264"/>
            <ac:spMk id="3" creationId="{620AD31B-3994-74EA-648D-2F296E18AB45}"/>
          </ac:spMkLst>
        </pc:spChg>
        <pc:spChg chg="add del mod">
          <ac:chgData name="Mgingqi, Sinazo (AE LMP - ZA)" userId="ec1f61bf-89e7-413d-b8db-169e85fc425b" providerId="ADAL" clId="{01F31CBE-4339-4F82-8A63-13B75BC5CA50}" dt="2026-10-22T02:07:52.975" v="1504" actId="14100"/>
          <ac:spMkLst>
            <pc:docMk/>
            <pc:sldMk cId="838507380" sldId="264"/>
            <ac:spMk id="12" creationId="{EDE1FF72-7991-4BFF-A30E-307D8E33ED3C}"/>
          </ac:spMkLst>
        </pc:spChg>
        <pc:spChg chg="add del mod">
          <ac:chgData name="Mgingqi, Sinazo (AE LMP - ZA)" userId="ec1f61bf-89e7-413d-b8db-169e85fc425b" providerId="ADAL" clId="{01F31CBE-4339-4F82-8A63-13B75BC5CA50}" dt="2026-10-22T01:56:11.705" v="1215" actId="20577"/>
          <ac:spMkLst>
            <pc:docMk/>
            <pc:sldMk cId="838507380" sldId="264"/>
            <ac:spMk id="15" creationId="{7B9CEE35-8864-97EF-DDE2-783D7329161D}"/>
          </ac:spMkLst>
        </pc:spChg>
        <pc:spChg chg="add mod">
          <ac:chgData name="Mgingqi, Sinazo (AE LMP - ZA)" userId="ec1f61bf-89e7-413d-b8db-169e85fc425b" providerId="ADAL" clId="{01F31CBE-4339-4F82-8A63-13B75BC5CA50}" dt="2026-10-22T02:07:27.311" v="1499" actId="1076"/>
          <ac:spMkLst>
            <pc:docMk/>
            <pc:sldMk cId="838507380" sldId="264"/>
            <ac:spMk id="22" creationId="{2DD1687D-F47F-F6DF-A279-97AE0B9A53F7}"/>
          </ac:spMkLst>
        </pc:spChg>
        <pc:picChg chg="add mod">
          <ac:chgData name="Mgingqi, Sinazo (AE LMP - ZA)" userId="ec1f61bf-89e7-413d-b8db-169e85fc425b" providerId="ADAL" clId="{01F31CBE-4339-4F82-8A63-13B75BC5CA50}" dt="2026-10-22T02:03:01.065" v="1389" actId="1076"/>
          <ac:picMkLst>
            <pc:docMk/>
            <pc:sldMk cId="838507380" sldId="264"/>
            <ac:picMk id="11" creationId="{47AEB4AB-7A7A-0768-44C9-AD947641C04F}"/>
          </ac:picMkLst>
        </pc:picChg>
        <pc:picChg chg="add mod">
          <ac:chgData name="Mgingqi, Sinazo (AE LMP - ZA)" userId="ec1f61bf-89e7-413d-b8db-169e85fc425b" providerId="ADAL" clId="{01F31CBE-4339-4F82-8A63-13B75BC5CA50}" dt="2026-10-22T01:53:48.254" v="1060" actId="1076"/>
          <ac:picMkLst>
            <pc:docMk/>
            <pc:sldMk cId="838507380" sldId="264"/>
            <ac:picMk id="14" creationId="{33079224-9A62-B53C-1CBA-574732D13701}"/>
          </ac:picMkLst>
        </pc:picChg>
        <pc:picChg chg="add mod">
          <ac:chgData name="Mgingqi, Sinazo (AE LMP - ZA)" userId="ec1f61bf-89e7-413d-b8db-169e85fc425b" providerId="ADAL" clId="{01F31CBE-4339-4F82-8A63-13B75BC5CA50}" dt="2026-10-22T02:03:05.704" v="1390" actId="1076"/>
          <ac:picMkLst>
            <pc:docMk/>
            <pc:sldMk cId="838507380" sldId="264"/>
            <ac:picMk id="17" creationId="{38FF306C-6727-D63A-50EA-F905F4B2B303}"/>
          </ac:picMkLst>
        </pc:picChg>
        <pc:picChg chg="add mod">
          <ac:chgData name="Mgingqi, Sinazo (AE LMP - ZA)" userId="ec1f61bf-89e7-413d-b8db-169e85fc425b" providerId="ADAL" clId="{01F31CBE-4339-4F82-8A63-13B75BC5CA50}" dt="2026-10-22T02:02:36.384" v="1384" actId="1076"/>
          <ac:picMkLst>
            <pc:docMk/>
            <pc:sldMk cId="838507380" sldId="264"/>
            <ac:picMk id="24" creationId="{31CC2EBB-6D71-76D9-6CF4-6AABB84E068A}"/>
          </ac:picMkLst>
        </pc:picChg>
      </pc:sldChg>
      <pc:sldChg chg="addSp delSp modSp add mod">
        <pc:chgData name="Mgingqi, Sinazo (AE LMP - ZA)" userId="ec1f61bf-89e7-413d-b8db-169e85fc425b" providerId="ADAL" clId="{01F31CBE-4339-4F82-8A63-13B75BC5CA50}" dt="2026-10-22T02:13:06.176" v="1617" actId="1076"/>
        <pc:sldMkLst>
          <pc:docMk/>
          <pc:sldMk cId="1120335984" sldId="265"/>
        </pc:sldMkLst>
        <pc:spChg chg="mod">
          <ac:chgData name="Mgingqi, Sinazo (AE LMP - ZA)" userId="ec1f61bf-89e7-413d-b8db-169e85fc425b" providerId="ADAL" clId="{01F31CBE-4339-4F82-8A63-13B75BC5CA50}" dt="2026-10-22T02:10:11.361" v="1597" actId="14100"/>
          <ac:spMkLst>
            <pc:docMk/>
            <pc:sldMk cId="1120335984" sldId="265"/>
            <ac:spMk id="2" creationId="{AAF91C05-69C6-2D3F-917A-386E75CF4ED5}"/>
          </ac:spMkLst>
        </pc:spChg>
        <pc:spChg chg="add mod">
          <ac:chgData name="Mgingqi, Sinazo (AE LMP - ZA)" userId="ec1f61bf-89e7-413d-b8db-169e85fc425b" providerId="ADAL" clId="{01F31CBE-4339-4F82-8A63-13B75BC5CA50}" dt="2026-10-22T02:13:06.176" v="1617" actId="1076"/>
          <ac:spMkLst>
            <pc:docMk/>
            <pc:sldMk cId="1120335984" sldId="265"/>
            <ac:spMk id="5" creationId="{678834FB-DEBC-E2DA-7C17-5BC83993CD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9F603-2D57-4FE2-87FB-DD8BDA5FB592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D5C68-2CAA-48EE-A2B7-2AA20FC0BFC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292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D5C68-2CAA-48EE-A2B7-2AA20FC0BFC1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9841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D5C68-2CAA-48EE-A2B7-2AA20FC0BFC1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218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ExceL</a:t>
            </a:r>
            <a:r>
              <a:rPr lang="en-US" dirty="0"/>
              <a:t> was used to :</a:t>
            </a:r>
          </a:p>
          <a:p>
            <a:pPr lvl="0"/>
            <a:r>
              <a:rPr lang="en-ZA" dirty="0"/>
              <a:t>Create KPI summaries </a:t>
            </a:r>
          </a:p>
          <a:p>
            <a:pPr lvl="0"/>
            <a:r>
              <a:rPr lang="en-ZA" dirty="0"/>
              <a:t>Analyse revenue by category </a:t>
            </a:r>
          </a:p>
          <a:p>
            <a:pPr lvl="0"/>
            <a:r>
              <a:rPr lang="en-ZA" dirty="0"/>
              <a:t>Analyse product performance </a:t>
            </a:r>
          </a:p>
          <a:p>
            <a:pPr lvl="0"/>
            <a:r>
              <a:rPr lang="en-ZA" dirty="0"/>
              <a:t>Analyse time periods </a:t>
            </a:r>
          </a:p>
          <a:p>
            <a:pPr lvl="0"/>
            <a:r>
              <a:rPr lang="en-ZA" dirty="0"/>
              <a:t>Analyse weekday/weekend performance </a:t>
            </a:r>
          </a:p>
          <a:p>
            <a:pPr lvl="0"/>
            <a:r>
              <a:rPr lang="en-ZA" dirty="0"/>
              <a:t>Explore the data using slicers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D5C68-2CAA-48EE-A2B7-2AA20FC0BFC1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4565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*Data Studio was used transformed the analysis into an interactive reporting experience that allows users to explore the data dynamically.</a:t>
            </a:r>
          </a:p>
          <a:p>
            <a:pPr lvl="0"/>
            <a:r>
              <a:rPr lang="en-ZA" dirty="0"/>
              <a:t>*Interactive filters are added so they  can be used to inspect store locations, product categories and time period independently</a:t>
            </a:r>
          </a:p>
          <a:p>
            <a:pPr lvl="0"/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Revenue analysis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Product performance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Time analysis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Day-of-week analysis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D5C68-2CAA-48EE-A2B7-2AA20FC0BFC1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6840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b="1" dirty="0"/>
              <a:t>Key message:</a:t>
            </a:r>
            <a:endParaRPr lang="en-ZA" dirty="0"/>
          </a:p>
          <a:p>
            <a:r>
              <a:rPr lang="en-ZA" dirty="0"/>
              <a:t>Power BI enabled deeper analysis and a structured two-page dashboard for monitoring sales performance.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D5C68-2CAA-48EE-A2B7-2AA20FC0BFC1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0000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0711-954C-3B9E-4712-31B7AA3C5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05EA3-14E7-5CF7-E39D-C8A87B384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2F3CA-4469-9A22-B41B-B0EDC75D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9A771-D8FB-E39A-09FF-6988E103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0758F-B8C2-08B6-8A4B-D3F4CD10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116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431D-B3A4-D922-60E1-4D840EC5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C609-098A-48BB-30D6-D1E89D2CE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401B9-669B-191E-DE67-9C4F7BE1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74C66-0446-8EBD-5E2D-E7CA163E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B8453-D319-027B-4B22-DDC294E8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310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740C-DB8E-97F2-4F18-A0AF5BF2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D2E06-4054-9970-15D5-C45C785E1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9DBA1-FD2C-81AD-E5FA-80D48EC7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F1EF4-2F58-6B6D-4B1A-DC101810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ABAD9-106E-257C-8769-02A5A29C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8818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B91F-7269-45F3-1817-3618797E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AE737-0C3B-8CC1-95B0-86969319A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1FFBF-27E8-A8AD-E259-8090928CB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4C992-879E-B2F3-D145-CA7112F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02FC4-2536-422D-3818-52CF6187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D7F4E-9210-6F3A-FDDB-3A11D63E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272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EAD0-01F0-DA8E-E8BE-B9A200976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C6CBC-EEC8-788E-D1CF-6B7256A7A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9FE64-2B7C-3F32-14D7-98B3F9E3E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AF26A-279E-CDB9-4A89-664940476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7ADE1-6870-CAF4-DA61-E09F9DAD5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4FF85-8E0B-6542-5C6D-19CD0C99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ABB1C-7C4C-32F2-8FAB-1C39A40E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61A480-EB66-DF22-3287-51231F7F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58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9087-7EDE-DB49-5CA9-E046F10E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BA67E-EC7A-BF1E-5C93-983EDD82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767F-3E9C-B4A5-022F-A587DFC70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71B2D-EBEA-E89B-B227-3D23C72D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5135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1760E-A950-7701-90BD-5DCACE2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0ECAF-0825-EC9D-8AA6-B1A290D3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F7726-8F09-9FD9-A06D-91A162D2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089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BDAE-1F52-E7A1-D40C-90E4C6226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1E158-BA7C-1100-8E7F-02B302985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EC37E-EBF5-6E1F-AE8A-007CE9975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7FFB5-9624-9BDF-ACE1-F00B4A4A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5E775-B8DB-7D46-9006-A004A0A3B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6C505-3900-A7EC-EB80-8B8EBAC3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606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B15E-4248-CD6F-34E1-2B2B5FF0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873D7-A9F0-F633-0B7E-E2A246A09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B847C-7468-7682-DFA1-D69D21243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59CD6-562F-E344-1379-B31BBCDD5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CCA0-CB3D-5F81-793A-28E52C3F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C2E2B-4567-5801-4CA4-C668256E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270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1FE0-D04E-2B8B-5A03-96B005B6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99BD6-4A4B-47E4-B3B3-A112CCCC7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ED7DE-C3FA-C839-DE43-9D6C46C7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67A70-8820-B636-8F27-0FD68EF1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1F215-98FF-60C8-412B-59235643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4167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96EC8-0042-1036-F8CB-0BFC8DC47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25FF9-A8D2-3067-F7F5-1295985F7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DB24E-DA2E-0599-0630-42359AA2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A9D7A-0053-6FF8-ABDF-527A19E1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C99B1-97E9-26FF-2958-391B5755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004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62AB2-C427-8015-1D59-E8035390C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4A874-7837-B02D-8027-629F16AC2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B975E-535C-2464-23B4-C31AC8374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21354-9D32-418B-B182-6E6C1A830F78}" type="datetimeFigureOut">
              <a:rPr lang="en-ZA" smtClean="0"/>
              <a:t>2026/10/24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2D4DF-B3F7-33DC-899A-720C19BD2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D410B-9169-72D3-4212-302D500E4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7C2D5-5E87-459E-B9C1-66901B4BA2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164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45DD-D734-8C26-2EEF-D64DD6918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81" y="0"/>
            <a:ext cx="12047038" cy="178816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BRIGHT COFFEE SHOP</a:t>
            </a:r>
            <a:br>
              <a:rPr lang="en-US" dirty="0"/>
            </a:br>
            <a:r>
              <a:rPr lang="en-US" sz="2200" b="1" dirty="0"/>
              <a:t>Sales Performance &amp; Data Analysis</a:t>
            </a:r>
            <a:br>
              <a:rPr lang="en-US" b="1" dirty="0"/>
            </a:b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2FEC7-A92B-D43D-D845-21DCB09A0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7227" y="1239618"/>
            <a:ext cx="9144000" cy="1067239"/>
          </a:xfrm>
        </p:spPr>
        <p:txBody>
          <a:bodyPr/>
          <a:lstStyle/>
          <a:p>
            <a:r>
              <a:rPr lang="en-US" b="1" dirty="0"/>
              <a:t>Databricks | Excel | Data Studio | Power BI</a:t>
            </a:r>
            <a:endParaRPr lang="en-Z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5EBD5-FE9F-256B-C51E-E6251C512F42}"/>
              </a:ext>
            </a:extLst>
          </p:cNvPr>
          <p:cNvSpPr txBox="1"/>
          <p:nvPr/>
        </p:nvSpPr>
        <p:spPr>
          <a:xfrm>
            <a:off x="-1765030" y="6168126"/>
            <a:ext cx="8745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</a:t>
            </a:r>
            <a:r>
              <a:rPr lang="en-US" b="1" dirty="0"/>
              <a:t>Presented by: Sinazo Mgingqi</a:t>
            </a:r>
          </a:p>
          <a:p>
            <a:r>
              <a:rPr lang="en-US" b="1" dirty="0"/>
              <a:t>                                        September 2026</a:t>
            </a:r>
            <a:endParaRPr lang="en-ZA" b="1" dirty="0"/>
          </a:p>
        </p:txBody>
      </p:sp>
      <p:pic>
        <p:nvPicPr>
          <p:cNvPr id="5" name="Picture 4" descr="https://images.openai.com/static-rsc-4/FQWqBZuM0cQELj5rI_laJis0S3dwLPRlVLeaFPT6kIO0u6lDcmz8fULMFacaraWFLfaS1hzOY2YmwYlPGSCVZs1889dSy5rYz39CFMsMmTOYL4nNhW5a2AFUDzRIo5q2Y13_t5PKylCCxpx_pvQdoi1hNc-OMW16itqpJgBtpcdIfYtD4YgjoM2BR08SMkMz?purpose=fullsize">
            <a:extLst>
              <a:ext uri="{FF2B5EF4-FFF2-40B4-BE49-F238E27FC236}">
                <a16:creationId xmlns:a16="http://schemas.microsoft.com/office/drawing/2014/main" id="{1B3096CD-5095-6BC2-826D-08449FE7B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1" y="1773237"/>
            <a:ext cx="11973745" cy="432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8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DE70-60CA-B8D7-33A2-679D48DFB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36" y="160846"/>
            <a:ext cx="11729936" cy="1064843"/>
          </a:xfrm>
        </p:spPr>
        <p:txBody>
          <a:bodyPr/>
          <a:lstStyle/>
          <a:p>
            <a:r>
              <a:rPr lang="en-US" dirty="0"/>
              <a:t>Understanding the Business Problem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7AD60-8914-13C4-C2A5-F70EDC948D87}"/>
              </a:ext>
            </a:extLst>
          </p:cNvPr>
          <p:cNvSpPr txBox="1"/>
          <p:nvPr/>
        </p:nvSpPr>
        <p:spPr>
          <a:xfrm>
            <a:off x="147536" y="1066663"/>
            <a:ext cx="117299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Objective:</a:t>
            </a:r>
            <a:endParaRPr lang="en-ZA" dirty="0"/>
          </a:p>
          <a:p>
            <a:r>
              <a:rPr lang="en-ZA" dirty="0"/>
              <a:t>Analyse Bright Coffee’s  historical sales data to identify revenue drivers, product performance and customer purchasing patterns, and provide actionable recommendations to support business growth.</a:t>
            </a:r>
          </a:p>
          <a:p>
            <a:endParaRPr lang="en-ZA" dirty="0"/>
          </a:p>
          <a:p>
            <a:r>
              <a:rPr lang="en-ZA" b="1" dirty="0"/>
              <a:t>☕ Product</a:t>
            </a:r>
          </a:p>
          <a:p>
            <a:r>
              <a:rPr lang="en-ZA" b="1" dirty="0"/>
              <a:t>Which products and categories generate the most revenue?</a:t>
            </a:r>
            <a:endParaRPr lang="en-ZA" dirty="0"/>
          </a:p>
          <a:p>
            <a:r>
              <a:rPr lang="en-ZA" b="1" dirty="0"/>
              <a:t>⏰ Time</a:t>
            </a:r>
          </a:p>
          <a:p>
            <a:r>
              <a:rPr lang="en-ZA" b="1" dirty="0"/>
              <a:t>When are customers generating the most revenue?</a:t>
            </a:r>
            <a:endParaRPr lang="en-ZA" dirty="0"/>
          </a:p>
          <a:p>
            <a:r>
              <a:rPr lang="en-ZA" b="1" dirty="0"/>
              <a:t>📈 Trends</a:t>
            </a:r>
          </a:p>
          <a:p>
            <a:r>
              <a:rPr lang="en-ZA" b="1" dirty="0"/>
              <a:t>How does revenue change over time?</a:t>
            </a:r>
            <a:endParaRPr lang="en-ZA" dirty="0"/>
          </a:p>
          <a:p>
            <a:r>
              <a:rPr lang="en-ZA" b="1" dirty="0"/>
              <a:t>💡Action</a:t>
            </a:r>
          </a:p>
          <a:p>
            <a:r>
              <a:rPr lang="en-ZA" b="1" dirty="0"/>
              <a:t>What opportunities can be identified from the data?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8496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F539-85BD-E5AC-721B-ADFC1CA4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and Analysis Approach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39759-C511-0550-D945-98CEB0A69C36}"/>
              </a:ext>
            </a:extLst>
          </p:cNvPr>
          <p:cNvSpPr txBox="1"/>
          <p:nvPr/>
        </p:nvSpPr>
        <p:spPr>
          <a:xfrm>
            <a:off x="344273" y="1597116"/>
            <a:ext cx="60943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ZA" b="1" dirty="0"/>
              <a:t>Raw Dataset</a:t>
            </a:r>
            <a:endParaRPr lang="en-ZA" dirty="0"/>
          </a:p>
          <a:p>
            <a:pPr>
              <a:buNone/>
            </a:pPr>
            <a:r>
              <a:rPr lang="en-ZA" dirty="0"/>
              <a:t>↓</a:t>
            </a:r>
          </a:p>
          <a:p>
            <a:pPr>
              <a:buNone/>
            </a:pPr>
            <a:r>
              <a:rPr lang="en-ZA" b="1" dirty="0"/>
              <a:t>Data Cleaning</a:t>
            </a:r>
            <a:endParaRPr lang="en-ZA" dirty="0"/>
          </a:p>
          <a:p>
            <a:pPr>
              <a:buNone/>
            </a:pPr>
            <a:r>
              <a:rPr lang="en-ZA" dirty="0"/>
              <a:t>↓</a:t>
            </a:r>
          </a:p>
          <a:p>
            <a:pPr>
              <a:buNone/>
            </a:pPr>
            <a:r>
              <a:rPr lang="en-ZA" b="1" dirty="0"/>
              <a:t>Data Transformation</a:t>
            </a:r>
            <a:endParaRPr lang="en-ZA" dirty="0"/>
          </a:p>
          <a:p>
            <a:pPr>
              <a:buNone/>
            </a:pPr>
            <a:r>
              <a:rPr lang="en-ZA" dirty="0"/>
              <a:t>↓</a:t>
            </a:r>
          </a:p>
          <a:p>
            <a:pPr>
              <a:buNone/>
            </a:pPr>
            <a:r>
              <a:rPr lang="en-ZA" b="1" dirty="0"/>
              <a:t>Analysis</a:t>
            </a:r>
            <a:endParaRPr lang="en-ZA" dirty="0"/>
          </a:p>
          <a:p>
            <a:pPr>
              <a:buNone/>
            </a:pPr>
            <a:r>
              <a:rPr lang="en-ZA" dirty="0"/>
              <a:t>↓</a:t>
            </a:r>
          </a:p>
          <a:p>
            <a:pPr>
              <a:buNone/>
            </a:pPr>
            <a:r>
              <a:rPr lang="en-ZA" b="1" dirty="0"/>
              <a:t>Visualisation</a:t>
            </a:r>
            <a:endParaRPr lang="en-ZA" dirty="0"/>
          </a:p>
          <a:p>
            <a:pPr>
              <a:buNone/>
            </a:pPr>
            <a:r>
              <a:rPr lang="en-ZA" dirty="0"/>
              <a:t>↓</a:t>
            </a:r>
          </a:p>
          <a:p>
            <a:pPr>
              <a:buNone/>
            </a:pPr>
            <a:r>
              <a:rPr lang="en-ZA" b="1" dirty="0"/>
              <a:t>Business Insights</a:t>
            </a:r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EFC23-8804-7C9D-284C-8C5DE50FE4E2}"/>
              </a:ext>
            </a:extLst>
          </p:cNvPr>
          <p:cNvSpPr txBox="1"/>
          <p:nvPr/>
        </p:nvSpPr>
        <p:spPr>
          <a:xfrm>
            <a:off x="141366" y="4781605"/>
            <a:ext cx="65001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ZA" dirty="0"/>
              <a:t>Cleaned missing/blank product categories and product types </a:t>
            </a:r>
          </a:p>
          <a:p>
            <a:pPr lvl="0"/>
            <a:r>
              <a:rPr lang="en-ZA" dirty="0"/>
              <a:t>Converted unit price into a numeric format </a:t>
            </a:r>
          </a:p>
          <a:p>
            <a:pPr lvl="0"/>
            <a:r>
              <a:rPr lang="en-ZA" dirty="0"/>
              <a:t>Calculated total revenue                                                                                               </a:t>
            </a:r>
          </a:p>
          <a:p>
            <a:pPr lvl="0"/>
            <a:r>
              <a:rPr lang="en-ZA" dirty="0"/>
              <a:t>Created day, month and time fields </a:t>
            </a:r>
          </a:p>
          <a:p>
            <a:pPr lvl="0"/>
            <a:r>
              <a:rPr lang="en-ZA" dirty="0"/>
              <a:t>Created time periods and classifications </a:t>
            </a:r>
          </a:p>
          <a:p>
            <a:pPr lvl="0"/>
            <a:r>
              <a:rPr lang="en-ZA" dirty="0"/>
              <a:t>Validated transaction and revenue calculations                                     </a:t>
            </a:r>
          </a:p>
          <a:p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FCF76B-04E2-0F4F-F6A3-E0EB8743734E}"/>
              </a:ext>
            </a:extLst>
          </p:cNvPr>
          <p:cNvSpPr txBox="1"/>
          <p:nvPr/>
        </p:nvSpPr>
        <p:spPr>
          <a:xfrm>
            <a:off x="7414591" y="4920104"/>
            <a:ext cx="45006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Tools Used</a:t>
            </a:r>
          </a:p>
          <a:p>
            <a:r>
              <a:rPr lang="en-ZA" b="1" dirty="0"/>
              <a:t>SQL / Databricks</a:t>
            </a:r>
            <a:r>
              <a:rPr lang="en-ZA" dirty="0"/>
              <a:t> → Data preparation</a:t>
            </a:r>
            <a:br>
              <a:rPr lang="en-ZA" dirty="0"/>
            </a:br>
            <a:r>
              <a:rPr lang="en-ZA" b="1" dirty="0"/>
              <a:t>Excel</a:t>
            </a:r>
            <a:r>
              <a:rPr lang="en-ZA" dirty="0"/>
              <a:t> → Initial analysis &amp; dashboard</a:t>
            </a:r>
            <a:br>
              <a:rPr lang="en-ZA" dirty="0"/>
            </a:br>
            <a:r>
              <a:rPr lang="en-ZA" b="1" dirty="0"/>
              <a:t>Data Studio</a:t>
            </a:r>
            <a:r>
              <a:rPr lang="en-ZA" dirty="0"/>
              <a:t> → Interactive visualisation</a:t>
            </a:r>
            <a:br>
              <a:rPr lang="en-ZA" dirty="0"/>
            </a:br>
            <a:r>
              <a:rPr lang="en-ZA" b="1" dirty="0"/>
              <a:t>Power BI</a:t>
            </a:r>
            <a:r>
              <a:rPr lang="en-ZA" dirty="0"/>
              <a:t> → Advanced analysis &amp; reporting</a:t>
            </a:r>
          </a:p>
          <a:p>
            <a:r>
              <a:rPr lang="en-ZA" b="1" dirty="0"/>
              <a:t>Databricks</a:t>
            </a:r>
            <a:r>
              <a:rPr lang="en-ZA" dirty="0"/>
              <a:t>- Analysis Dashboard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9815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3CBF-41E5-F42E-38E1-501F307D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80" y="131445"/>
            <a:ext cx="10515600" cy="1325563"/>
          </a:xfrm>
        </p:spPr>
        <p:txBody>
          <a:bodyPr/>
          <a:lstStyle/>
          <a:p>
            <a:r>
              <a:rPr lang="en-US"/>
              <a:t>Excel Dashboard</a:t>
            </a:r>
            <a:endParaRPr lang="en-Z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9B27F-9B6C-B233-3E9B-B6F9611EBE9E}"/>
              </a:ext>
            </a:extLst>
          </p:cNvPr>
          <p:cNvSpPr/>
          <p:nvPr/>
        </p:nvSpPr>
        <p:spPr>
          <a:xfrm>
            <a:off x="-1400320" y="-4316927"/>
            <a:ext cx="14992639" cy="14886133"/>
          </a:xfrm>
          <a:prstGeom prst="rect">
            <a:avLst/>
          </a:prstGeom>
          <a:solidFill>
            <a:srgbClr val="F7F3ED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/>
              <a:t>Key message:</a:t>
            </a:r>
            <a:endParaRPr lang="en-ZA"/>
          </a:p>
          <a:p>
            <a:r>
              <a:rPr lang="en-ZA"/>
              <a:t>Excel provided the first visual exploration of the cleaned dataset and helped identify initial sales patterns.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2AF82-423B-BE00-6480-AF43ED69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6828" y="-3273236"/>
            <a:ext cx="9478353" cy="46274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CDF3CC8-A2A4-341A-E73D-CF85F093691F}"/>
              </a:ext>
            </a:extLst>
          </p:cNvPr>
          <p:cNvSpPr txBox="1">
            <a:spLocks/>
          </p:cNvSpPr>
          <p:nvPr/>
        </p:nvSpPr>
        <p:spPr>
          <a:xfrm>
            <a:off x="-604100" y="-4145206"/>
            <a:ext cx="10515600" cy="509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Excel Dashboard</a:t>
            </a:r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BA06FD-F661-109A-E2C3-277C8E821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46828" y="1379192"/>
            <a:ext cx="9478353" cy="520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7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2BF8-5B4A-5A5D-3D05-13058076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707"/>
            <a:ext cx="12102859" cy="65279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Studio- Dashboard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DACCD-0AAB-BDB4-E657-74BC40DB8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1" y="750498"/>
            <a:ext cx="9054859" cy="52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1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6989-72A1-B9E6-8644-D64624D4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08" y="106334"/>
            <a:ext cx="10515600" cy="687298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BI - Dashboard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39E321-6BBB-500B-9A64-E094A24D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656"/>
            <a:ext cx="12069792" cy="563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0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E4D91-D767-35D5-1ED7-3D5476FF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82303" cy="665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5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54B6-4154-32E3-C8F0-9E5A0E32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55" y="112478"/>
            <a:ext cx="12006690" cy="649572"/>
          </a:xfrm>
        </p:spPr>
        <p:txBody>
          <a:bodyPr>
            <a:normAutofit fontScale="90000"/>
          </a:bodyPr>
          <a:lstStyle/>
          <a:p>
            <a:r>
              <a:rPr lang="en-US" dirty="0"/>
              <a:t>Key Business Insights</a:t>
            </a:r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AD31B-3994-74EA-648D-2F296E18AB45}"/>
              </a:ext>
            </a:extLst>
          </p:cNvPr>
          <p:cNvSpPr txBox="1"/>
          <p:nvPr/>
        </p:nvSpPr>
        <p:spPr>
          <a:xfrm>
            <a:off x="104955" y="849650"/>
            <a:ext cx="31195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Top Revenue Category</a:t>
            </a:r>
          </a:p>
          <a:p>
            <a:r>
              <a:rPr lang="en-US" b="1" dirty="0"/>
              <a:t>R269,952</a:t>
            </a:r>
          </a:p>
          <a:p>
            <a:endParaRPr lang="en-US" dirty="0"/>
          </a:p>
          <a:p>
            <a:r>
              <a:rPr lang="en-US" dirty="0"/>
              <a:t>Coffee generated the highest category  revenue.</a:t>
            </a:r>
            <a:endParaRPr lang="en-ZA" dirty="0"/>
          </a:p>
        </p:txBody>
      </p:sp>
      <p:pic>
        <p:nvPicPr>
          <p:cNvPr id="11" name="Graphic 10" descr="Coffee outline">
            <a:extLst>
              <a:ext uri="{FF2B5EF4-FFF2-40B4-BE49-F238E27FC236}">
                <a16:creationId xmlns:a16="http://schemas.microsoft.com/office/drawing/2014/main" id="{47AEB4AB-7A7A-0768-44C9-AD947641C0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54" y="849650"/>
            <a:ext cx="776194" cy="8045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E1FF72-7991-4BFF-A30E-307D8E33ED3C}"/>
              </a:ext>
            </a:extLst>
          </p:cNvPr>
          <p:cNvSpPr txBox="1"/>
          <p:nvPr/>
        </p:nvSpPr>
        <p:spPr>
          <a:xfrm>
            <a:off x="6390593" y="631584"/>
            <a:ext cx="38257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Peak Trading Period</a:t>
            </a:r>
          </a:p>
          <a:p>
            <a:endParaRPr lang="en-US" dirty="0"/>
          </a:p>
          <a:p>
            <a:r>
              <a:rPr lang="en-US" dirty="0"/>
              <a:t>Revenue</a:t>
            </a:r>
          </a:p>
          <a:p>
            <a:r>
              <a:rPr lang="en-US" b="1" dirty="0"/>
              <a:t>R220,162</a:t>
            </a:r>
          </a:p>
          <a:p>
            <a:endParaRPr lang="en-US" dirty="0"/>
          </a:p>
          <a:p>
            <a:r>
              <a:rPr lang="en-US" dirty="0"/>
              <a:t>Late Morning (09:00-11:59) recorded the highest revenue among the analyzed three-hour periods.</a:t>
            </a:r>
            <a:endParaRPr lang="en-ZA" dirty="0"/>
          </a:p>
        </p:txBody>
      </p:sp>
      <p:pic>
        <p:nvPicPr>
          <p:cNvPr id="14" name="Graphic 13" descr="Clock with solid fill">
            <a:extLst>
              <a:ext uri="{FF2B5EF4-FFF2-40B4-BE49-F238E27FC236}">
                <a16:creationId xmlns:a16="http://schemas.microsoft.com/office/drawing/2014/main" id="{33079224-9A62-B53C-1CBA-574732D13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8386" y="633519"/>
            <a:ext cx="739832" cy="6495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9CEE35-8864-97EF-DDE2-783D7329161D}"/>
              </a:ext>
            </a:extLst>
          </p:cNvPr>
          <p:cNvSpPr txBox="1"/>
          <p:nvPr/>
        </p:nvSpPr>
        <p:spPr>
          <a:xfrm>
            <a:off x="104954" y="3306124"/>
            <a:ext cx="3303263" cy="238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Weekday Revenue</a:t>
            </a:r>
          </a:p>
          <a:p>
            <a:r>
              <a:rPr lang="en-US" b="1" dirty="0"/>
              <a:t>R503,588</a:t>
            </a:r>
          </a:p>
          <a:p>
            <a:endParaRPr lang="en-US" b="1" dirty="0"/>
          </a:p>
          <a:p>
            <a:r>
              <a:rPr lang="en-US" dirty="0"/>
              <a:t>Weekdays contributed approximately 72% of the total revenue.</a:t>
            </a:r>
            <a:endParaRPr lang="en-ZA" dirty="0"/>
          </a:p>
        </p:txBody>
      </p:sp>
      <p:pic>
        <p:nvPicPr>
          <p:cNvPr id="17" name="Graphic 16" descr="Daily calendar outline">
            <a:extLst>
              <a:ext uri="{FF2B5EF4-FFF2-40B4-BE49-F238E27FC236}">
                <a16:creationId xmlns:a16="http://schemas.microsoft.com/office/drawing/2014/main" id="{38FF306C-6727-D63A-50EA-F905F4B2B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665" y="3279583"/>
            <a:ext cx="770483" cy="6469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DD1687D-F47F-F6DF-A279-97AE0B9A53F7}"/>
              </a:ext>
            </a:extLst>
          </p:cNvPr>
          <p:cNvSpPr txBox="1"/>
          <p:nvPr/>
        </p:nvSpPr>
        <p:spPr>
          <a:xfrm>
            <a:off x="6359236" y="3493906"/>
            <a:ext cx="3888461" cy="261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Leading Product Type</a:t>
            </a:r>
          </a:p>
          <a:p>
            <a:endParaRPr lang="en-US" dirty="0"/>
          </a:p>
          <a:p>
            <a:r>
              <a:rPr lang="en-US" b="1" dirty="0"/>
              <a:t>R91,406</a:t>
            </a:r>
          </a:p>
          <a:p>
            <a:r>
              <a:rPr lang="en-US" dirty="0"/>
              <a:t>Barista Espresso was the highest-revenue product type in the analysis</a:t>
            </a:r>
          </a:p>
          <a:p>
            <a:endParaRPr lang="en-US" dirty="0"/>
          </a:p>
          <a:p>
            <a:endParaRPr lang="en-ZA" dirty="0"/>
          </a:p>
        </p:txBody>
      </p:sp>
      <p:pic>
        <p:nvPicPr>
          <p:cNvPr id="24" name="Graphic 23" descr="Upward trend outline">
            <a:extLst>
              <a:ext uri="{FF2B5EF4-FFF2-40B4-BE49-F238E27FC236}">
                <a16:creationId xmlns:a16="http://schemas.microsoft.com/office/drawing/2014/main" id="{31CC2EBB-6D71-76D9-6CF4-6AABB84E0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8386" y="3629582"/>
            <a:ext cx="827625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0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C52E9-6970-F7EC-4A6B-14724E9B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1C05-69C6-2D3F-917A-386E75CF4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2" y="108065"/>
            <a:ext cx="11986952" cy="1396539"/>
          </a:xfrm>
        </p:spPr>
        <p:txBody>
          <a:bodyPr>
            <a:normAutofit fontScale="90000"/>
          </a:bodyPr>
          <a:lstStyle/>
          <a:p>
            <a:r>
              <a:rPr lang="en-US" dirty="0"/>
              <a:t>Turning Insights into Action</a:t>
            </a:r>
            <a:br>
              <a:rPr lang="en-US" dirty="0"/>
            </a:br>
            <a:r>
              <a:rPr lang="en-US" dirty="0"/>
              <a:t> </a:t>
            </a:r>
            <a:r>
              <a:rPr lang="en-US" sz="3100" dirty="0"/>
              <a:t>Next Steps</a:t>
            </a:r>
            <a:br>
              <a:rPr lang="en-US" sz="3100" dirty="0"/>
            </a:br>
            <a:endParaRPr lang="en-ZA" sz="3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834FB-DEBC-E2DA-7C17-5BC83993CD30}"/>
              </a:ext>
            </a:extLst>
          </p:cNvPr>
          <p:cNvSpPr txBox="1"/>
          <p:nvPr/>
        </p:nvSpPr>
        <p:spPr>
          <a:xfrm>
            <a:off x="66502" y="1654715"/>
            <a:ext cx="1198695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Four practical opportunities to strengthen sales performance</a:t>
            </a:r>
          </a:p>
          <a:p>
            <a:endParaRPr lang="en-US" dirty="0"/>
          </a:p>
          <a:p>
            <a:r>
              <a:rPr lang="en-ZA" dirty="0"/>
              <a:t>1. Prioritise High-Performing Products</a:t>
            </a:r>
          </a:p>
          <a:p>
            <a:r>
              <a:rPr lang="en-ZA" dirty="0"/>
              <a:t>Maintain availability of popular coffee products, especially Barista Espresso, and evaluate opportunities to increase complementary purchases.</a:t>
            </a:r>
          </a:p>
          <a:p>
            <a:r>
              <a:rPr lang="en-ZA" dirty="0"/>
              <a:t>2. Optimise Peak Trading Hours</a:t>
            </a:r>
          </a:p>
          <a:p>
            <a:r>
              <a:rPr lang="en-ZA" dirty="0"/>
              <a:t>Review staffing, stock levels and service speed during the strongest revenue periods, particularly late morning.</a:t>
            </a:r>
          </a:p>
          <a:p>
            <a:r>
              <a:rPr lang="en-ZA" dirty="0"/>
              <a:t>3. Build Weekend Sales</a:t>
            </a:r>
          </a:p>
          <a:p>
            <a:r>
              <a:rPr lang="en-ZA" dirty="0"/>
              <a:t>Test targeted promotions and product bundles to encourage additional weekend visits and purchases.</a:t>
            </a:r>
          </a:p>
          <a:p>
            <a:r>
              <a:rPr lang="en-ZA" dirty="0"/>
              <a:t>4. Monitor Performance Continuously</a:t>
            </a:r>
          </a:p>
          <a:p>
            <a:r>
              <a:rPr lang="en-ZA" dirty="0"/>
              <a:t>Use the interactive dashboards to track revenue, product performance, store differences and changes in customer purchasing patterns.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20335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Widescreen</PresentationFormat>
  <Paragraphs>103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  BRIGHT COFFEE SHOP Sales Performance &amp; Data Analysis </vt:lpstr>
      <vt:lpstr>Understanding the Business Problem</vt:lpstr>
      <vt:lpstr>Data Preparation and Analysis Approach</vt:lpstr>
      <vt:lpstr>Excel Dashboard</vt:lpstr>
      <vt:lpstr>Data Studio- Dashboard</vt:lpstr>
      <vt:lpstr>Power BI - Dashboard</vt:lpstr>
      <vt:lpstr>PowerPoint Presentation</vt:lpstr>
      <vt:lpstr>Key Business Insights</vt:lpstr>
      <vt:lpstr>Turning Insights into Action 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Mgingqi, Sinazo (AE LMP - ZA)</dc:creator>
  <cp:lastModifiedBy>Mgingqi, Sinazo (AE LMP - ZA)</cp:lastModifiedBy>
  <cp:revision>1</cp:revision>
  <dcterms:created xsi:type="dcterms:W3CDTF">2026-09-19T12:35:03Z</dcterms:created>
  <dcterms:modified xsi:type="dcterms:W3CDTF">2026-10-24T12:52:35Z</dcterms:modified>
</cp:coreProperties>
</file>